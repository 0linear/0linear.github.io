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JetBrains Mono"/>
      <p:bold r:id="rId11"/>
    </p:embeddedFont>
    <p:embeddedFont>
      <p:font typeface="Plus Jakarta Sans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7FAA84-D9CF-461A-83FB-574B2DC2D851}" v="10" dt="2026-10-14T17:00:05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di Habashi" userId="3fd1731e-c576-435e-b8cb-4a3b28733355" providerId="ADAL" clId="{0FC64874-12D1-41EA-92DC-500D4F16349F}"/>
    <pc:docChg chg="modSld">
      <pc:chgData name="Shadi Habashi" userId="3fd1731e-c576-435e-b8cb-4a3b28733355" providerId="ADAL" clId="{0FC64874-12D1-41EA-92DC-500D4F16349F}" dt="2026-10-14T17:00:05.868" v="9"/>
      <pc:docMkLst>
        <pc:docMk/>
      </pc:docMkLst>
      <pc:sldChg chg="modTransition">
        <pc:chgData name="Shadi Habashi" userId="3fd1731e-c576-435e-b8cb-4a3b28733355" providerId="ADAL" clId="{0FC64874-12D1-41EA-92DC-500D4F16349F}" dt="2026-10-14T16:59:51.012" v="1"/>
        <pc:sldMkLst>
          <pc:docMk/>
          <pc:sldMk cId="0" sldId="256"/>
        </pc:sldMkLst>
      </pc:sldChg>
      <pc:sldChg chg="modTransition">
        <pc:chgData name="Shadi Habashi" userId="3fd1731e-c576-435e-b8cb-4a3b28733355" providerId="ADAL" clId="{0FC64874-12D1-41EA-92DC-500D4F16349F}" dt="2026-10-14T16:59:52.207" v="2"/>
        <pc:sldMkLst>
          <pc:docMk/>
          <pc:sldMk cId="0" sldId="257"/>
        </pc:sldMkLst>
      </pc:sldChg>
      <pc:sldChg chg="modTransition">
        <pc:chgData name="Shadi Habashi" userId="3fd1731e-c576-435e-b8cb-4a3b28733355" providerId="ADAL" clId="{0FC64874-12D1-41EA-92DC-500D4F16349F}" dt="2026-10-14T16:59:53.731" v="3"/>
        <pc:sldMkLst>
          <pc:docMk/>
          <pc:sldMk cId="0" sldId="258"/>
        </pc:sldMkLst>
      </pc:sldChg>
      <pc:sldChg chg="modTransition">
        <pc:chgData name="Shadi Habashi" userId="3fd1731e-c576-435e-b8cb-4a3b28733355" providerId="ADAL" clId="{0FC64874-12D1-41EA-92DC-500D4F16349F}" dt="2026-10-14T16:59:55.333" v="4"/>
        <pc:sldMkLst>
          <pc:docMk/>
          <pc:sldMk cId="0" sldId="259"/>
        </pc:sldMkLst>
      </pc:sldChg>
      <pc:sldChg chg="modTransition">
        <pc:chgData name="Shadi Habashi" userId="3fd1731e-c576-435e-b8cb-4a3b28733355" providerId="ADAL" clId="{0FC64874-12D1-41EA-92DC-500D4F16349F}" dt="2026-10-14T16:59:57.781" v="5"/>
        <pc:sldMkLst>
          <pc:docMk/>
          <pc:sldMk cId="0" sldId="260"/>
        </pc:sldMkLst>
      </pc:sldChg>
      <pc:sldChg chg="modTransition">
        <pc:chgData name="Shadi Habashi" userId="3fd1731e-c576-435e-b8cb-4a3b28733355" providerId="ADAL" clId="{0FC64874-12D1-41EA-92DC-500D4F16349F}" dt="2026-10-14T16:59:59.731" v="6"/>
        <pc:sldMkLst>
          <pc:docMk/>
          <pc:sldMk cId="0" sldId="261"/>
        </pc:sldMkLst>
      </pc:sldChg>
      <pc:sldChg chg="modTransition">
        <pc:chgData name="Shadi Habashi" userId="3fd1731e-c576-435e-b8cb-4a3b28733355" providerId="ADAL" clId="{0FC64874-12D1-41EA-92DC-500D4F16349F}" dt="2026-10-14T17:00:01.678" v="7"/>
        <pc:sldMkLst>
          <pc:docMk/>
          <pc:sldMk cId="0" sldId="262"/>
        </pc:sldMkLst>
      </pc:sldChg>
      <pc:sldChg chg="modTransition">
        <pc:chgData name="Shadi Habashi" userId="3fd1731e-c576-435e-b8cb-4a3b28733355" providerId="ADAL" clId="{0FC64874-12D1-41EA-92DC-500D4F16349F}" dt="2026-10-14T17:00:03.407" v="8"/>
        <pc:sldMkLst>
          <pc:docMk/>
          <pc:sldMk cId="0" sldId="263"/>
        </pc:sldMkLst>
      </pc:sldChg>
      <pc:sldChg chg="modTransition">
        <pc:chgData name="Shadi Habashi" userId="3fd1731e-c576-435e-b8cb-4a3b28733355" providerId="ADAL" clId="{0FC64874-12D1-41EA-92DC-500D4F16349F}" dt="2026-10-14T17:00:05.868" v="9"/>
        <pc:sldMkLst>
          <pc:docMk/>
          <pc:sldMk cId="0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330005"/>
            <a:ext cx="108204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330005"/>
            <a:ext cx="108204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390900" y="4610992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86450" y="4610992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99344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JetBrains Mono"/>
              </a:rPr>
              <a:t>DATABASE SYSTEMS • ASSIGNMENT 1 (OPTION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23194"/>
            <a:ext cx="9701212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Plus Jakarta Sans"/>
              </a:rPr>
              <a:t>Smart Household Water &amp; Electricity Conservation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2755"/>
            <a:ext cx="790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Plus Jakarta Sans"/>
              </a:rPr>
              <a:t>Empowering UAE households to track consumption, receive high-usage alerts, and earn sustainability rewards.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68130"/>
            <a:ext cx="29527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58630"/>
            <a:ext cx="2952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Plus Jakarta Sans"/>
              </a:rPr>
              <a:t>Omar Abou Hait &amp; Shadi Habashi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3325" y="4572892"/>
            <a:ext cx="2250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Student 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3325" y="4763392"/>
            <a:ext cx="22502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JetBrains Mono"/>
              </a:rPr>
              <a:t>202311455 • 202611112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8875" y="4577655"/>
            <a:ext cx="41076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Strategic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8875" y="4768155"/>
            <a:ext cx="4107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4D399"/>
                </a:solidFill>
                <a:latin typeface="Plus Jakarta Sans"/>
              </a:rPr>
              <a:t>UAE National Agenda: Sustainable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57487"/>
            <a:ext cx="3505200" cy="2238375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64643"/>
            <a:ext cx="3505200" cy="2024062"/>
          </a:xfrm>
          <a:prstGeom prst="roundRect">
            <a:avLst>
              <a:gd name="adj" fmla="val 56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64643"/>
            <a:ext cx="3505200" cy="2024062"/>
          </a:xfrm>
          <a:prstGeom prst="roundRect">
            <a:avLst>
              <a:gd name="adj" fmla="val 56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71812"/>
            <a:ext cx="287655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78968"/>
            <a:ext cx="287655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178968"/>
            <a:ext cx="287655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PROJECT SCOPE • 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System Purpose &amp; Value Proposition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49091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Automated Metering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824287"/>
            <a:ext cx="29718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Smart meters transmit synchronized monthly readings for water and electricity automatically without manual intervention.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598068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Usage Anomaly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931443"/>
            <a:ext cx="29718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Instant notification when a household exceeds its pre-established monthly consumption target threshold.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598068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Conservation Incentives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931443"/>
            <a:ext cx="29718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Residents receive 1 reward point for every unit saved beneath targets, promoting UAE sustainability goals.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24162"/>
            <a:ext cx="3505200" cy="2143125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24162"/>
            <a:ext cx="3505200" cy="2143125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38437"/>
            <a:ext cx="3505200" cy="2314575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38487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38487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052762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412" y="3243262"/>
            <a:ext cx="2381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3925" y="3243262"/>
            <a:ext cx="2667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6300" y="3157537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USER ACTORS &amp; PERMISSIONS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Primary System Stakeholders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709987"/>
            <a:ext cx="29718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Consumer accessing personal metrics via mobile or web portal.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271962"/>
            <a:ext cx="359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• Track monthly usage and bills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4481512"/>
            <a:ext cx="359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• View alerts and earned reward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709987"/>
            <a:ext cx="29718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Operational team managing infrastructure and regulatory rates.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4271962"/>
            <a:ext cx="359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• Register households and smart meters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7725" y="4481512"/>
            <a:ext cx="359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• Configure tariffs and monthly targets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3624262"/>
            <a:ext cx="29718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Technical administrative oversight ensuring service resilience.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1525" y="4186237"/>
            <a:ext cx="359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C3AED"/>
                </a:solidFill>
                <a:latin typeface="Plus Jakarta Sans"/>
              </a:rPr>
              <a:t>• Manage user access control and roles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1525" y="4395787"/>
            <a:ext cx="29718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C3AED"/>
                </a:solidFill>
                <a:latin typeface="Plus Jakarta Sans"/>
              </a:rPr>
              <a:t>• Maintain daily backups and disaster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7325" y="3233737"/>
            <a:ext cx="232529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Household Resident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1125" y="3233737"/>
            <a:ext cx="13501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Utility Staff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24925" y="3148012"/>
            <a:ext cx="168771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System Admin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86037"/>
            <a:ext cx="5372100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05212"/>
            <a:ext cx="5372100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452937"/>
            <a:ext cx="5372100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2414587"/>
            <a:ext cx="5372100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3433762"/>
            <a:ext cx="5372100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4452937"/>
            <a:ext cx="5372100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586037"/>
            <a:ext cx="38100" cy="8858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3605212"/>
            <a:ext cx="38100" cy="714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4452937"/>
            <a:ext cx="38100" cy="714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300" y="2414587"/>
            <a:ext cx="38100" cy="8858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0300" y="3433762"/>
            <a:ext cx="38100" cy="88582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0300" y="4452937"/>
            <a:ext cx="38100" cy="88582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INTEGRITY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Core Business Rules &amp;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738437"/>
            <a:ext cx="6500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1. Meter-Household Relationship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976562"/>
            <a:ext cx="5048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Each household has ≥1 smart meter; each meter strictly belongs to exactly one household.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757612"/>
            <a:ext cx="6500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2. Single-Utility Meter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3995737"/>
            <a:ext cx="6191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Every meter records one designated utility type only (Water OR Electricity).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4605337"/>
            <a:ext cx="6500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3. Non-Negative Monthly 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4843462"/>
            <a:ext cx="6191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Exact 1 reading per meter/month; consumption values are constrained to ≥ 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8900" y="2566987"/>
            <a:ext cx="5753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4. Threshold Alert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8900" y="2805112"/>
            <a:ext cx="5048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If consumption &gt; monthly target, the system immediately generates an overage alert.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8900" y="3586162"/>
            <a:ext cx="5753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5. Mutual Exclusion: Reward vs. 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8900" y="3824287"/>
            <a:ext cx="5048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1 reward point earned per unit below target; a reading triggers an alert OR a reward, never both.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8900" y="4605337"/>
            <a:ext cx="5753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6. Role-Governed Modifications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8900" y="4843462"/>
            <a:ext cx="5048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Only utility staff hold permission to define and modify tariff rates and meter targets.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62212"/>
            <a:ext cx="10972800" cy="27336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462212"/>
          <a:ext cx="10972799" cy="2733675"/>
        </p:xfrm>
        <a:graphic>
          <a:graphicData uri="http://schemas.openxmlformats.org/drawingml/2006/table">
            <a:tbl>
              <a:tblPr/>
              <a:tblGrid>
                <a:gridCol w="241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56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Aspect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Classification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Technical Justification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Data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Relational (RDBMS)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Structured relational tables connected by primary and foreign key constraints.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Users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Multi-User Concurrent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Simultaneous resident dashboard views alongside utility staff tariff configurations.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Architecture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Client-Server (Centralized)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Single central database engine serving web apps, mobile apps, and smart meter feeds.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Storage &amp; Processing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OLTP + Monthly Batch Jobs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12 annual reads per meter with end-of-month batch routines for alerts and rewards.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Concurrency &amp; Recovery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Daily Backups &amp; WAL Logs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Transaction write-ahead logging prevents double-billing and restores state on crash.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Security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RBAC &amp; Access Controls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Role-based filters ensure residents access only their own household telemetry.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TECHNICAL ARCHITECTURE •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Database System Classification &amp; Justifications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971550"/>
            <a:ext cx="11163300" cy="55435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1504950"/>
            <a:ext cx="10915650" cy="4476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4350" y="342900"/>
            <a:ext cx="116776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JetBrains Mono"/>
              </a:rPr>
              <a:t>CONCEPTUAL DATA MODEL • 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542925"/>
            <a:ext cx="1167765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Plus Jakarta Sans"/>
              </a:rPr>
              <a:t>Complete Entity-Relationship (ER) Diagram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19362"/>
            <a:ext cx="10972800" cy="26765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519362"/>
          <a:ext cx="10972798" cy="2676525"/>
        </p:xfrm>
        <a:graphic>
          <a:graphicData uri="http://schemas.openxmlformats.org/drawingml/2006/table">
            <a:tbl>
              <a:tblPr/>
              <a:tblGrid>
                <a:gridCol w="1862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7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44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97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608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Entity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Relationship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Entity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Cardinality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Foreign Key Placement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8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Household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Has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Smart 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1 : 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Smart_Meter holds FK (Household_ID)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Smart 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Has (Identifying)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Monthly Reading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1 : 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Reading inherits Meter_ID in composite PK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08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Tariff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Prices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Monthly Reading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1 : 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Monthly_Reading holds FK (Tariff_ID)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08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Monthly Reading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EA580C"/>
                          </a:solidFill>
                          <a:latin typeface="Plus Jakarta Sans"/>
                        </a:rPr>
                        <a:t>Causes (Above Target)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Alert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1 :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Alert holds FK (Reading_ID)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09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Monthly Reading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Causes (Below Target)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Reward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1 :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Reward holds FK (Reading_ID)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RELATIONAL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ER Diagram Cardinalities &amp; Foreign Keys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19387"/>
            <a:ext cx="3505200" cy="2314575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26543"/>
            <a:ext cx="3505200" cy="2100262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19387"/>
            <a:ext cx="3505200" cy="2314575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MODEL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Key ER Design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033712"/>
            <a:ext cx="3595687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284C7"/>
                </a:solidFill>
                <a:latin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557587"/>
            <a:ext cx="37754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Target on 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862387"/>
            <a:ext cx="29718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The monthly target is stored directly on the smart meter, cleanly giving each household dedicated targets for water and electricity.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140868"/>
            <a:ext cx="3595687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D97706"/>
                </a:solidFill>
                <a:latin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664743"/>
            <a:ext cx="37754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Mutual Exclusion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969543"/>
            <a:ext cx="29718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A reading either triggers an alert (when above target) or earns reward points (when below target), but never both.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033712"/>
            <a:ext cx="3595687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59669"/>
                </a:solidFill>
                <a:latin typeface="JetBrain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557587"/>
            <a:ext cx="37754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Historical Cost Invariance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862387"/>
            <a:ext cx="29718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Calculated cost is permanently stamped on the reading record so historic billing records remain unchanged when future tariffs change.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29462" y="4186237"/>
            <a:ext cx="9525" cy="1714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562" y="4210050"/>
            <a:ext cx="180975" cy="142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787" y="4210050"/>
            <a:ext cx="142875" cy="142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6625" y="2495550"/>
            <a:ext cx="5238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JetBrains Mono"/>
              </a:rPr>
              <a:t>DATABASE SYSTEMS • SMART CONSERVATION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2050" y="2819400"/>
            <a:ext cx="3187898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lus Jakarta San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80359" y="3600450"/>
            <a:ext cx="26312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6925" y="4181475"/>
            <a:ext cx="5286375" cy="180975"/>
          </a:xfrm>
          <a:prstGeom prst="rect">
            <a:avLst/>
          </a:prstGeom>
          <a:noFill/>
        </p:spPr>
        <p:txBody>
          <a:bodyPr wrap="none" lIns="257175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E2E8F0"/>
                </a:solidFill>
                <a:latin typeface="Plus Jakarta Sans"/>
              </a:rPr>
              <a:t>Omar Abou Hait (202311455) &amp; Shadi Habashi (202611112)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4706" y="4181475"/>
            <a:ext cx="2690812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E2E8F0"/>
                </a:solidFill>
                <a:latin typeface="Plus Jakarta Sans"/>
              </a:rPr>
              <a:t>UAE Sustainability Initiative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677</Words>
  <Application>Microsoft Office PowerPoint</Application>
  <PresentationFormat>Widescreen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JetBrains Mono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Shadi Habashi</cp:lastModifiedBy>
  <cp:revision>1</cp:revision>
  <dcterms:created xsi:type="dcterms:W3CDTF">2013-01-27T09:14:16Z</dcterms:created>
  <dcterms:modified xsi:type="dcterms:W3CDTF">2026-10-14T17:00:14Z</dcterms:modified>
  <cp:category/>
</cp:coreProperties>
</file>